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6"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0" d="100"/>
          <a:sy n="100" d="100"/>
        </p:scale>
        <p:origin x="183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12/5/2024</a:t>
            </a:fld>
            <a:endParaRPr lang="en-US"/>
          </a:p>
        </p:txBody>
      </p:sp>
      <p:sp>
        <p:nvSpPr>
          <p:cNvPr id="5" name="Footer Placeholder 4"/>
          <p:cNvSpPr>
            <a:spLocks noGrp="1"/>
          </p:cNvSpPr>
          <p:nvPr>
            <p:ph type="ftr" sz="quarter" idx="11"/>
          </p:nvPr>
        </p:nvSpPr>
        <p:spPr>
          <a:xfrm>
            <a:off x="2396319" y="329308"/>
            <a:ext cx="3086292" cy="309201"/>
          </a:xfrm>
        </p:spPr>
        <p:txBody>
          <a:bodyPr/>
          <a:lstStyle/>
          <a:p>
            <a:endParaRPr lang="en-US"/>
          </a:p>
        </p:txBody>
      </p:sp>
      <p:sp>
        <p:nvSpPr>
          <p:cNvPr id="6" name="Slide Number Placeholder 5"/>
          <p:cNvSpPr>
            <a:spLocks noGrp="1"/>
          </p:cNvSpPr>
          <p:nvPr>
            <p:ph type="sldNum" sz="quarter" idx="12"/>
          </p:nvPr>
        </p:nvSpPr>
        <p:spPr>
          <a:xfrm>
            <a:off x="1434703" y="798973"/>
            <a:ext cx="802005" cy="503578"/>
          </a:xfrm>
        </p:spPr>
        <p:txBody>
          <a:bodyPr/>
          <a:lstStyle/>
          <a:p>
            <a:fld id="{C1FF6DA9-008F-8B48-92A6-B652298478BF}" type="slidenum">
              <a:rPr lang="en-US" smtClean="0"/>
              <a:t>‹#›</a:t>
            </a:fld>
            <a:endParaRPr lang="en-US"/>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72247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82258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n-US"/>
              <a:t>Click to edit Master title style</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52750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670807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443491" y="2824270"/>
            <a:ext cx="312576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89182" y="2821491"/>
            <a:ext cx="31256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582560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93361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04377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1838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fld id="{5BCAD085-E8A6-8845-BD4E-CB4CCA059FC4}" type="datetimeFigureOut">
              <a:rPr lang="en-US" smtClean="0"/>
              <a:t>12/5/2024</a:t>
            </a:fld>
            <a:endParaRPr lang="en-US"/>
          </a:p>
        </p:txBody>
      </p:sp>
      <p:sp>
        <p:nvSpPr>
          <p:cNvPr id="6" name="Footer Placeholder 5"/>
          <p:cNvSpPr>
            <a:spLocks noGrp="1"/>
          </p:cNvSpPr>
          <p:nvPr>
            <p:ph type="ftr" sz="quarter" idx="11"/>
          </p:nvPr>
        </p:nvSpPr>
        <p:spPr>
          <a:xfrm>
            <a:off x="1437530" y="318641"/>
            <a:ext cx="3251553" cy="320931"/>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91273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073971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95873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BCAD085-E8A6-8845-BD4E-CB4CCA059FC4}" type="datetimeFigureOut">
              <a:rPr lang="en-US" smtClean="0"/>
              <a:t>12/5/2024</a:t>
            </a:fld>
            <a:endParaRPr lang="en-US"/>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0466841"/>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7118" y="1867121"/>
            <a:ext cx="7249886" cy="1887950"/>
          </a:xfrm>
        </p:spPr>
        <p:txBody>
          <a:bodyPr>
            <a:normAutofit fontScale="90000"/>
          </a:bodyPr>
          <a:lstStyle/>
          <a:p>
            <a:pPr algn="ctr"/>
            <a:r>
              <a:rPr sz="4400" dirty="0">
                <a:latin typeface="Times New Roman" panose="02020603050405020304" pitchFamily="18" charset="0"/>
                <a:cs typeface="Times New Roman" panose="02020603050405020304" pitchFamily="18" charset="0"/>
              </a:rPr>
              <a:t>Generative Modeling for Inclusive Facial Image Creation</a:t>
            </a:r>
          </a:p>
        </p:txBody>
      </p:sp>
      <p:sp>
        <p:nvSpPr>
          <p:cNvPr id="3" name="Subtitle 2"/>
          <p:cNvSpPr>
            <a:spLocks noGrp="1"/>
          </p:cNvSpPr>
          <p:nvPr>
            <p:ph type="body" idx="1"/>
          </p:nvPr>
        </p:nvSpPr>
        <p:spPr/>
        <p:txBody>
          <a:bodyPr/>
          <a:lstStyle/>
          <a:p>
            <a:pPr algn="ctr"/>
            <a:r>
              <a:rPr dirty="0">
                <a:latin typeface="Times New Roman" panose="02020603050405020304" pitchFamily="18" charset="0"/>
                <a:cs typeface="Times New Roman" panose="02020603050405020304" pitchFamily="18" charset="0"/>
              </a:rPr>
              <a:t>Course: CPS584 Advanced Intelligent Systems and Deep Learning</a:t>
            </a:r>
          </a:p>
        </p:txBody>
      </p:sp>
      <p:sp>
        <p:nvSpPr>
          <p:cNvPr id="4" name="TextBox 3"/>
          <p:cNvSpPr txBox="1"/>
          <p:nvPr/>
        </p:nvSpPr>
        <p:spPr>
          <a:xfrm>
            <a:off x="6621780" y="4613896"/>
            <a:ext cx="3434080" cy="1200329"/>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Team:</a:t>
            </a:r>
          </a:p>
          <a:p>
            <a:r>
              <a:rPr lang="en-IN" dirty="0">
                <a:latin typeface="Times New Roman" panose="02020603050405020304" pitchFamily="18" charset="0"/>
                <a:cs typeface="Times New Roman" panose="02020603050405020304" pitchFamily="18" charset="0"/>
              </a:rPr>
              <a:t>Sriraj Guptha </a:t>
            </a:r>
            <a:r>
              <a:rPr lang="en-IN" dirty="0" err="1">
                <a:latin typeface="Times New Roman" panose="02020603050405020304" pitchFamily="18" charset="0"/>
                <a:cs typeface="Times New Roman" panose="02020603050405020304" pitchFamily="18" charset="0"/>
              </a:rPr>
              <a:t>Batchu</a:t>
            </a:r>
            <a:endParaRPr lang="en-IN" dirty="0">
              <a:latin typeface="Times New Roman" panose="02020603050405020304" pitchFamily="18" charset="0"/>
              <a:cs typeface="Times New Roman" panose="02020603050405020304" pitchFamily="18" charset="0"/>
            </a:endParaRPr>
          </a:p>
          <a:p>
            <a:r>
              <a:rPr lang="en-IN" dirty="0" err="1">
                <a:latin typeface="Times New Roman" panose="02020603050405020304" pitchFamily="18" charset="0"/>
                <a:cs typeface="Times New Roman" panose="02020603050405020304" pitchFamily="18" charset="0"/>
              </a:rPr>
              <a:t>Vinitha</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Uppunuru</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3491" y="1391654"/>
            <a:ext cx="6347713" cy="426814"/>
          </a:xfrm>
        </p:spPr>
        <p:txBody>
          <a:bodyPr>
            <a:normAutofit fontScale="90000"/>
          </a:bodyPr>
          <a:lstStyle/>
          <a:p>
            <a:r>
              <a:rPr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This project explores the use of generative modeling to create facial images representing diverse ethnic groups, including Indian, Oriental, and European. By applying advanced diffusion models, it aims to blend features from different groups while maintaining realistic details. The focus is on promoting inclusivity in image generation by combining technical methods like U-Net architecture and class conditioning. </a:t>
            </a:r>
          </a:p>
          <a:p>
            <a:pPr algn="just"/>
            <a:r>
              <a:rPr lang="en-US" dirty="0">
                <a:latin typeface="Times New Roman" panose="02020603050405020304" pitchFamily="18" charset="0"/>
                <a:cs typeface="Times New Roman" panose="02020603050405020304" pitchFamily="18" charset="0"/>
              </a:rPr>
              <a:t>This approach highlights the potential of deep learning in addressing diversity and representation challenges.</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3490" y="1233515"/>
            <a:ext cx="6571343" cy="500035"/>
          </a:xfrm>
        </p:spPr>
        <p:txBody>
          <a:bodyPr>
            <a:normAutofit fontScale="90000"/>
          </a:bodyPr>
          <a:lstStyle/>
          <a:p>
            <a:r>
              <a:rPr dirty="0">
                <a:latin typeface="Times New Roman" panose="02020603050405020304" pitchFamily="18" charset="0"/>
                <a:cs typeface="Times New Roman" panose="02020603050405020304" pitchFamily="18" charset="0"/>
              </a:rPr>
              <a:t>Dataset Preparation</a:t>
            </a:r>
          </a:p>
        </p:txBody>
      </p:sp>
      <p:sp>
        <p:nvSpPr>
          <p:cNvPr id="7" name="Content Placeholder 6">
            <a:extLst>
              <a:ext uri="{FF2B5EF4-FFF2-40B4-BE49-F238E27FC236}">
                <a16:creationId xmlns:a16="http://schemas.microsoft.com/office/drawing/2014/main" id="{B57A6856-8DAC-BD1D-9D86-EA2B8137708A}"/>
              </a:ext>
            </a:extLst>
          </p:cNvPr>
          <p:cNvSpPr>
            <a:spLocks noGrp="1"/>
          </p:cNvSpPr>
          <p:nvPr>
            <p:ph sz="half" idx="1"/>
          </p:nvPr>
        </p:nvSpPr>
        <p:spPr/>
        <p:txBody>
          <a:bodyPr>
            <a:normAutofit fontScale="92500" lnSpcReduction="20000"/>
          </a:bodyPr>
          <a:lstStyle/>
          <a:p>
            <a:pPr marL="0" indent="0" algn="just">
              <a:buNone/>
            </a:pPr>
            <a:r>
              <a:rPr lang="en-US" dirty="0">
                <a:latin typeface="Times New Roman" panose="02020603050405020304" pitchFamily="18" charset="0"/>
                <a:cs typeface="Times New Roman" panose="02020603050405020304" pitchFamily="18" charset="0"/>
              </a:rPr>
              <a:t>1. Dataset: </a:t>
            </a:r>
            <a:r>
              <a:rPr lang="en-US" dirty="0" err="1">
                <a:latin typeface="Times New Roman" panose="02020603050405020304" pitchFamily="18" charset="0"/>
                <a:cs typeface="Times New Roman" panose="02020603050405020304" pitchFamily="18" charset="0"/>
              </a:rPr>
              <a:t>FairFace</a:t>
            </a:r>
            <a:r>
              <a:rPr lang="en-US" dirty="0">
                <a:latin typeface="Times New Roman" panose="02020603050405020304" pitchFamily="18" charset="0"/>
                <a:cs typeface="Times New Roman" panose="02020603050405020304" pitchFamily="18" charset="0"/>
              </a:rPr>
              <a:t> Dataset with more than 600 images per ethnic group.</a:t>
            </a:r>
          </a:p>
          <a:p>
            <a:pPr marL="0" indent="0" algn="just">
              <a:buNone/>
            </a:pPr>
            <a:r>
              <a:rPr lang="en-US" dirty="0">
                <a:latin typeface="Times New Roman" panose="02020603050405020304" pitchFamily="18" charset="0"/>
                <a:cs typeface="Times New Roman" panose="02020603050405020304" pitchFamily="18" charset="0"/>
              </a:rPr>
              <a:t>2. Preprocessing: Resized to 28x28 pixels, normalized, and augmented (flipping, rotation).</a:t>
            </a:r>
          </a:p>
          <a:p>
            <a:pPr marL="0" indent="0" algn="just">
              <a:buNone/>
            </a:pPr>
            <a:r>
              <a:rPr lang="en-US" dirty="0">
                <a:latin typeface="Times New Roman" panose="02020603050405020304" pitchFamily="18" charset="0"/>
                <a:cs typeface="Times New Roman" panose="02020603050405020304" pitchFamily="18" charset="0"/>
              </a:rPr>
              <a:t>3. Class Conditioning: Labels for ethnic groups to guide image generation.</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5133723-A880-10CD-2D55-7AB1985DA8A6}"/>
              </a:ext>
            </a:extLst>
          </p:cNvPr>
          <p:cNvPicPr>
            <a:picLocks noChangeAspect="1"/>
          </p:cNvPicPr>
          <p:nvPr/>
        </p:nvPicPr>
        <p:blipFill>
          <a:blip r:embed="rId2"/>
          <a:stretch>
            <a:fillRect/>
          </a:stretch>
        </p:blipFill>
        <p:spPr>
          <a:xfrm>
            <a:off x="4729162" y="2090136"/>
            <a:ext cx="3125871" cy="304721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3491" y="1233146"/>
            <a:ext cx="6571343" cy="587134"/>
          </a:xfrm>
        </p:spPr>
        <p:txBody>
          <a:bodyPr/>
          <a:lstStyle/>
          <a:p>
            <a:r>
              <a:rPr dirty="0">
                <a:latin typeface="Times New Roman" panose="02020603050405020304" pitchFamily="18" charset="0"/>
                <a:cs typeface="Times New Roman" panose="02020603050405020304" pitchFamily="18" charset="0"/>
              </a:rPr>
              <a:t>Model Architecture</a:t>
            </a:r>
          </a:p>
        </p:txBody>
      </p:sp>
      <p:sp>
        <p:nvSpPr>
          <p:cNvPr id="3" name="Content Placeholder 2"/>
          <p:cNvSpPr>
            <a:spLocks noGrp="1"/>
          </p:cNvSpPr>
          <p:nvPr>
            <p:ph idx="1"/>
          </p:nvPr>
        </p:nvSpPr>
        <p:spPr>
          <a:xfrm>
            <a:off x="1443492" y="2015733"/>
            <a:ext cx="3480934" cy="3450613"/>
          </a:xfrm>
        </p:spPr>
        <p:txBody>
          <a:bodyPr>
            <a:normAutofit fontScale="85000" lnSpcReduction="10000"/>
          </a:bodyPr>
          <a:lstStyle/>
          <a:p>
            <a:pPr marL="0" indent="0" algn="just">
              <a:lnSpc>
                <a:spcPct val="100000"/>
              </a:lnSpc>
              <a:buNone/>
            </a:pPr>
            <a:r>
              <a:rPr lang="en-US" sz="1800" dirty="0">
                <a:latin typeface="Times New Roman" panose="02020603050405020304" pitchFamily="18" charset="0"/>
                <a:cs typeface="Times New Roman" panose="02020603050405020304" pitchFamily="18" charset="0"/>
              </a:rPr>
              <a:t>U-Net Structure:</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Down Blocks: Perform feature extraction using </a:t>
            </a:r>
            <a:r>
              <a:rPr lang="en-US" sz="1800" dirty="0" err="1">
                <a:latin typeface="Times New Roman" panose="02020603050405020304" pitchFamily="18" charset="0"/>
                <a:cs typeface="Times New Roman" panose="02020603050405020304" pitchFamily="18" charset="0"/>
              </a:rPr>
              <a:t>ResNet</a:t>
            </a:r>
            <a:r>
              <a:rPr lang="en-US" sz="1800" dirty="0">
                <a:latin typeface="Times New Roman" panose="02020603050405020304" pitchFamily="18" charset="0"/>
                <a:cs typeface="Times New Roman" panose="02020603050405020304" pitchFamily="18" charset="0"/>
              </a:rPr>
              <a:t> and attention mechanisms.</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Up Blocks: </a:t>
            </a:r>
            <a:r>
              <a:rPr lang="en-US" sz="1900" dirty="0">
                <a:latin typeface="Times New Roman" panose="02020603050405020304" pitchFamily="18" charset="0"/>
                <a:cs typeface="Times New Roman" panose="02020603050405020304" pitchFamily="18" charset="0"/>
              </a:rPr>
              <a:t>They are responsible for reconstructing the final output image</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Class Embeddings:</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Additional channels are used to encode ethnic group information as input to the model.</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Simulates noise removal, facilitating image generation through iterative refinement.</a:t>
            </a:r>
          </a:p>
        </p:txBody>
      </p:sp>
      <p:pic>
        <p:nvPicPr>
          <p:cNvPr id="2050" name="Picture 2">
            <a:extLst>
              <a:ext uri="{FF2B5EF4-FFF2-40B4-BE49-F238E27FC236}">
                <a16:creationId xmlns:a16="http://schemas.microsoft.com/office/drawing/2014/main" id="{EDA7E23B-D309-72C2-882D-83F29B57AC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62109" y="2374602"/>
            <a:ext cx="2752725" cy="273287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3490" y="1185891"/>
            <a:ext cx="6571343" cy="601614"/>
          </a:xfrm>
        </p:spPr>
        <p:txBody>
          <a:bodyPr/>
          <a:lstStyle/>
          <a:p>
            <a:r>
              <a:rPr dirty="0">
                <a:latin typeface="Times New Roman" panose="02020603050405020304" pitchFamily="18" charset="0"/>
                <a:cs typeface="Times New Roman" panose="02020603050405020304" pitchFamily="18" charset="0"/>
              </a:rPr>
              <a:t>Training Process</a:t>
            </a:r>
          </a:p>
        </p:txBody>
      </p:sp>
      <p:sp>
        <p:nvSpPr>
          <p:cNvPr id="7" name="Content Placeholder 6">
            <a:extLst>
              <a:ext uri="{FF2B5EF4-FFF2-40B4-BE49-F238E27FC236}">
                <a16:creationId xmlns:a16="http://schemas.microsoft.com/office/drawing/2014/main" id="{2C86F71A-E0D1-4788-C0BC-BDC63B0DD761}"/>
              </a:ext>
            </a:extLst>
          </p:cNvPr>
          <p:cNvSpPr>
            <a:spLocks noGrp="1"/>
          </p:cNvSpPr>
          <p:nvPr>
            <p:ph sz="half" idx="1"/>
          </p:nvPr>
        </p:nvSpPr>
        <p:spPr>
          <a:xfrm>
            <a:off x="1443490" y="2013936"/>
            <a:ext cx="3261860" cy="3437560"/>
          </a:xfrm>
        </p:spPr>
        <p:txBody>
          <a:bodyPr>
            <a:normAutofit/>
          </a:bodyPr>
          <a:lstStyle/>
          <a:p>
            <a:pPr marL="0" indent="0" algn="just">
              <a:buNone/>
            </a:pPr>
            <a:r>
              <a:rPr lang="en-US" sz="1600" b="1" dirty="0">
                <a:latin typeface="Times New Roman" panose="02020603050405020304" pitchFamily="18" charset="0"/>
                <a:cs typeface="Times New Roman" panose="02020603050405020304" pitchFamily="18" charset="0"/>
              </a:rPr>
              <a:t>Optimizer</a:t>
            </a:r>
            <a:r>
              <a:rPr lang="en-US" sz="1600" dirty="0">
                <a:latin typeface="Times New Roman" panose="02020603050405020304" pitchFamily="18" charset="0"/>
                <a:cs typeface="Times New Roman" panose="02020603050405020304" pitchFamily="18" charset="0"/>
              </a:rPr>
              <a:t>: The Adam optimizer is used with a learning rate of 5e-4</a:t>
            </a:r>
          </a:p>
          <a:p>
            <a:pPr marL="0" indent="0" algn="just">
              <a:buNone/>
            </a:pPr>
            <a:r>
              <a:rPr lang="en-US" sz="1600" b="1" dirty="0">
                <a:latin typeface="Times New Roman" panose="02020603050405020304" pitchFamily="18" charset="0"/>
                <a:cs typeface="Times New Roman" panose="02020603050405020304" pitchFamily="18" charset="0"/>
              </a:rPr>
              <a:t>Loss</a:t>
            </a: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Function</a:t>
            </a:r>
            <a:r>
              <a:rPr lang="en-US" sz="1600" dirty="0">
                <a:latin typeface="Times New Roman" panose="02020603050405020304" pitchFamily="18" charset="0"/>
                <a:cs typeface="Times New Roman" panose="02020603050405020304" pitchFamily="18" charset="0"/>
              </a:rPr>
              <a:t>: Mean Squared Error (MSE) is employed to measure the difference between the predicted and actual noise.</a:t>
            </a:r>
          </a:p>
          <a:p>
            <a:pPr marL="0" indent="0" algn="just">
              <a:buNone/>
            </a:pPr>
            <a:r>
              <a:rPr lang="en-US" sz="1600" b="1" dirty="0">
                <a:latin typeface="Times New Roman" panose="02020603050405020304" pitchFamily="18" charset="0"/>
                <a:cs typeface="Times New Roman" panose="02020603050405020304" pitchFamily="18" charset="0"/>
              </a:rPr>
              <a:t>Training</a:t>
            </a: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Duration</a:t>
            </a:r>
            <a:r>
              <a:rPr lang="en-US" sz="1600" dirty="0">
                <a:latin typeface="Times New Roman" panose="02020603050405020304" pitchFamily="18" charset="0"/>
                <a:cs typeface="Times New Roman" panose="02020603050405020304" pitchFamily="18" charset="0"/>
              </a:rPr>
              <a:t>: The model is trained for 10 epochs to ensure convergence.</a:t>
            </a:r>
            <a:endParaRPr lang="en-US" sz="1600" dirty="0"/>
          </a:p>
        </p:txBody>
      </p:sp>
      <p:pic>
        <p:nvPicPr>
          <p:cNvPr id="10" name="Content Placeholder 9">
            <a:extLst>
              <a:ext uri="{FF2B5EF4-FFF2-40B4-BE49-F238E27FC236}">
                <a16:creationId xmlns:a16="http://schemas.microsoft.com/office/drawing/2014/main" id="{C05ACC45-02F8-56E6-E393-E7318E02EEEE}"/>
              </a:ext>
            </a:extLst>
          </p:cNvPr>
          <p:cNvPicPr>
            <a:picLocks noGrp="1" noChangeAspect="1"/>
          </p:cNvPicPr>
          <p:nvPr>
            <p:ph sz="half" idx="2"/>
          </p:nvPr>
        </p:nvPicPr>
        <p:blipFill>
          <a:blip r:embed="rId2"/>
          <a:stretch>
            <a:fillRect/>
          </a:stretch>
        </p:blipFill>
        <p:spPr>
          <a:xfrm>
            <a:off x="4925303" y="2014538"/>
            <a:ext cx="3018547" cy="3436937"/>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latin typeface="Times New Roman" panose="02020603050405020304" pitchFamily="18" charset="0"/>
                <a:cs typeface="Times New Roman" panose="02020603050405020304" pitchFamily="18" charset="0"/>
              </a:rPr>
              <a:t>Code Snippet - Class Conditioned U-Net</a:t>
            </a:r>
          </a:p>
        </p:txBody>
      </p:sp>
      <p:sp>
        <p:nvSpPr>
          <p:cNvPr id="8" name="Content Placeholder 7">
            <a:extLst>
              <a:ext uri="{FF2B5EF4-FFF2-40B4-BE49-F238E27FC236}">
                <a16:creationId xmlns:a16="http://schemas.microsoft.com/office/drawing/2014/main" id="{31E57AFD-423B-7365-C18D-16FCC4C58F76}"/>
              </a:ext>
            </a:extLst>
          </p:cNvPr>
          <p:cNvSpPr>
            <a:spLocks noGrp="1"/>
          </p:cNvSpPr>
          <p:nvPr>
            <p:ph sz="half" idx="1"/>
          </p:nvPr>
        </p:nvSpPr>
        <p:spPr/>
        <p:txBody>
          <a:bodyPr>
            <a:normAutofit/>
          </a:bodyPr>
          <a:lstStyle/>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Class Embedding:</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Transforms class labels (e.g., ethnic groups) into dense vector representations of size </a:t>
            </a:r>
            <a:r>
              <a:rPr kumimoji="0" lang="en-US" altLang="en-US" sz="14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class_emb_size</a:t>
            </a:r>
            <a:r>
              <a:rPr kumimoji="0" lang="en-US" altLang="en-US" sz="1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These embeddings serve as conditioning inputs for the U-Net model.</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Modified U-Net:</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Incorporates additional input channels to process both image data and class embeddings. </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Employs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ResNet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blocks with attention mechanisms for efficient feature extraction and image generation.</a:t>
            </a:r>
          </a:p>
          <a:p>
            <a:pPr algn="just"/>
            <a:endParaRPr lang="en-US" sz="1400" dirty="0"/>
          </a:p>
        </p:txBody>
      </p:sp>
      <p:pic>
        <p:nvPicPr>
          <p:cNvPr id="10" name="Content Placeholder 9">
            <a:extLst>
              <a:ext uri="{FF2B5EF4-FFF2-40B4-BE49-F238E27FC236}">
                <a16:creationId xmlns:a16="http://schemas.microsoft.com/office/drawing/2014/main" id="{DF99DE32-767E-04E5-FAE6-74E4CA45FF13}"/>
              </a:ext>
            </a:extLst>
          </p:cNvPr>
          <p:cNvPicPr>
            <a:picLocks noGrp="1" noChangeAspect="1"/>
          </p:cNvPicPr>
          <p:nvPr>
            <p:ph sz="half" idx="2"/>
          </p:nvPr>
        </p:nvPicPr>
        <p:blipFill>
          <a:blip r:embed="rId2"/>
          <a:srcRect/>
          <a:stretch/>
        </p:blipFill>
        <p:spPr>
          <a:xfrm>
            <a:off x="4800600" y="2114550"/>
            <a:ext cx="3214688" cy="333694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Image Generation Process</a:t>
            </a:r>
          </a:p>
        </p:txBody>
      </p:sp>
      <p:sp>
        <p:nvSpPr>
          <p:cNvPr id="3" name="Content Placeholder 2"/>
          <p:cNvSpPr>
            <a:spLocks noGrp="1"/>
          </p:cNvSpPr>
          <p:nvPr>
            <p:ph idx="1"/>
          </p:nvPr>
        </p:nvSpPr>
        <p:spPr>
          <a:xfrm>
            <a:off x="1443491" y="2015733"/>
            <a:ext cx="2823709" cy="3527817"/>
          </a:xfrm>
        </p:spPr>
        <p:txBody>
          <a:bodyPr>
            <a:normAutofit/>
          </a:bodyPr>
          <a:lstStyle/>
          <a:p>
            <a:pPr marL="0" indent="0">
              <a:buNone/>
            </a:pPr>
            <a:r>
              <a:rPr sz="1200" dirty="0">
                <a:latin typeface="Times New Roman" panose="02020603050405020304" pitchFamily="18" charset="0"/>
                <a:cs typeface="Times New Roman" panose="02020603050405020304" pitchFamily="18" charset="0"/>
              </a:rPr>
              <a:t>1. Class Conditioning: Class </a:t>
            </a:r>
            <a:r>
              <a:rPr sz="1200" dirty="0" err="1">
                <a:latin typeface="Times New Roman" panose="02020603050405020304" pitchFamily="18" charset="0"/>
                <a:cs typeface="Times New Roman" panose="02020603050405020304" pitchFamily="18" charset="0"/>
              </a:rPr>
              <a:t>embeddings</a:t>
            </a:r>
            <a:r>
              <a:rPr sz="1200" dirty="0">
                <a:latin typeface="Times New Roman" panose="02020603050405020304" pitchFamily="18" charset="0"/>
                <a:cs typeface="Times New Roman" panose="02020603050405020304" pitchFamily="18" charset="0"/>
              </a:rPr>
              <a:t> blended for ethnic combinations.</a:t>
            </a:r>
          </a:p>
          <a:p>
            <a:pPr marL="0" indent="0">
              <a:buNone/>
            </a:pPr>
            <a:r>
              <a:rPr sz="1200" dirty="0">
                <a:latin typeface="Times New Roman" panose="02020603050405020304" pitchFamily="18" charset="0"/>
                <a:cs typeface="Times New Roman" panose="02020603050405020304" pitchFamily="18" charset="0"/>
              </a:rPr>
              <a:t>2. Noise Scheduler: </a:t>
            </a:r>
            <a:r>
              <a:rPr sz="1200" dirty="0" err="1">
                <a:latin typeface="Times New Roman" panose="02020603050405020304" pitchFamily="18" charset="0"/>
                <a:cs typeface="Times New Roman" panose="02020603050405020304" pitchFamily="18" charset="0"/>
              </a:rPr>
              <a:t>DDPMScheduler</a:t>
            </a:r>
            <a:r>
              <a:rPr sz="1200" dirty="0">
                <a:latin typeface="Times New Roman" panose="02020603050405020304" pitchFamily="18" charset="0"/>
                <a:cs typeface="Times New Roman" panose="02020603050405020304" pitchFamily="18" charset="0"/>
              </a:rPr>
              <a:t> modeled the </a:t>
            </a:r>
            <a:r>
              <a:rPr sz="1200" dirty="0" err="1">
                <a:latin typeface="Times New Roman" panose="02020603050405020304" pitchFamily="18" charset="0"/>
                <a:cs typeface="Times New Roman" panose="02020603050405020304" pitchFamily="18" charset="0"/>
              </a:rPr>
              <a:t>denoising</a:t>
            </a:r>
            <a:r>
              <a:rPr sz="1200" dirty="0">
                <a:latin typeface="Times New Roman" panose="02020603050405020304" pitchFamily="18" charset="0"/>
                <a:cs typeface="Times New Roman" panose="02020603050405020304" pitchFamily="18" charset="0"/>
              </a:rPr>
              <a:t> steps.</a:t>
            </a:r>
          </a:p>
          <a:p>
            <a:pPr marL="0" indent="0">
              <a:buNone/>
            </a:pPr>
            <a:r>
              <a:rPr sz="1200" dirty="0">
                <a:latin typeface="Times New Roman" panose="02020603050405020304" pitchFamily="18" charset="0"/>
                <a:cs typeface="Times New Roman" panose="02020603050405020304" pitchFamily="18" charset="0"/>
              </a:rPr>
              <a:t>3. Outputs: Generated images for blends like Indian + Oriental + European</a:t>
            </a:r>
            <a:endParaRPr lang="en-IN" sz="1200" dirty="0">
              <a:latin typeface="Times New Roman" panose="02020603050405020304" pitchFamily="18" charset="0"/>
              <a:cs typeface="Times New Roman" panose="02020603050405020304" pitchFamily="18" charset="0"/>
            </a:endParaRPr>
          </a:p>
          <a:p>
            <a:pPr marL="0" indent="0">
              <a:buNone/>
            </a:pPr>
            <a:r>
              <a:rPr lang="en-IN" sz="1200" dirty="0">
                <a:latin typeface="Times New Roman" panose="02020603050405020304" pitchFamily="18" charset="0"/>
                <a:cs typeface="Times New Roman" panose="02020603050405020304" pitchFamily="18" charset="0"/>
              </a:rPr>
              <a:t>Indian + Oriental</a:t>
            </a:r>
          </a:p>
          <a:p>
            <a:pPr marL="0" indent="0">
              <a:buNone/>
            </a:pPr>
            <a:r>
              <a:rPr lang="en-IN" sz="1200" dirty="0">
                <a:latin typeface="Times New Roman" panose="02020603050405020304" pitchFamily="18" charset="0"/>
                <a:cs typeface="Times New Roman" panose="02020603050405020304" pitchFamily="18" charset="0"/>
              </a:rPr>
              <a:t>Oriental + European</a:t>
            </a:r>
          </a:p>
          <a:p>
            <a:pPr marL="0" indent="0">
              <a:buNone/>
            </a:pPr>
            <a:r>
              <a:rPr lang="en-IN" sz="1200" dirty="0">
                <a:latin typeface="Times New Roman" panose="02020603050405020304" pitchFamily="18" charset="0"/>
                <a:cs typeface="Times New Roman" panose="02020603050405020304" pitchFamily="18" charset="0"/>
              </a:rPr>
              <a:t>Indian + European</a:t>
            </a:r>
            <a:r>
              <a:rPr sz="1200" dirty="0">
                <a:latin typeface="Times New Roman" panose="02020603050405020304" pitchFamily="18" charset="0"/>
                <a:cs typeface="Times New Roman" panose="02020603050405020304" pitchFamily="18" charset="0"/>
              </a:rPr>
              <a:t>.</a:t>
            </a:r>
          </a:p>
          <a:p>
            <a:pPr marL="0" indent="0">
              <a:buNone/>
            </a:pPr>
            <a:r>
              <a:rPr sz="1200" dirty="0">
                <a:latin typeface="Times New Roman" panose="02020603050405020304" pitchFamily="18" charset="0"/>
                <a:cs typeface="Times New Roman" panose="02020603050405020304" pitchFamily="18" charset="0"/>
              </a:rPr>
              <a:t>4. Visualization: Grid layouts to showcase results.</a:t>
            </a:r>
          </a:p>
        </p:txBody>
      </p:sp>
      <p:pic>
        <p:nvPicPr>
          <p:cNvPr id="5" name="Picture 4">
            <a:extLst>
              <a:ext uri="{FF2B5EF4-FFF2-40B4-BE49-F238E27FC236}">
                <a16:creationId xmlns:a16="http://schemas.microsoft.com/office/drawing/2014/main" id="{922A0AA7-FAD1-F127-21B0-0518EDD02105}"/>
              </a:ext>
            </a:extLst>
          </p:cNvPr>
          <p:cNvPicPr>
            <a:picLocks noChangeAspect="1"/>
          </p:cNvPicPr>
          <p:nvPr/>
        </p:nvPicPr>
        <p:blipFill>
          <a:blip r:embed="rId2"/>
          <a:stretch>
            <a:fillRect/>
          </a:stretch>
        </p:blipFill>
        <p:spPr>
          <a:xfrm>
            <a:off x="4509237" y="2015733"/>
            <a:ext cx="3505597" cy="395698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3491" y="781850"/>
            <a:ext cx="6571343" cy="1049235"/>
          </a:xfrm>
        </p:spPr>
        <p:txBody>
          <a:bodyPr/>
          <a:lstStyle/>
          <a:p>
            <a:r>
              <a:rPr dirty="0"/>
              <a:t>Results</a:t>
            </a:r>
          </a:p>
        </p:txBody>
      </p:sp>
      <p:pic>
        <p:nvPicPr>
          <p:cNvPr id="8" name="Content Placeholder 7">
            <a:extLst>
              <a:ext uri="{FF2B5EF4-FFF2-40B4-BE49-F238E27FC236}">
                <a16:creationId xmlns:a16="http://schemas.microsoft.com/office/drawing/2014/main" id="{DF8236F1-80F9-7E1E-7A5F-2171A10561C9}"/>
              </a:ext>
            </a:extLst>
          </p:cNvPr>
          <p:cNvPicPr>
            <a:picLocks noGrp="1" noChangeAspect="1"/>
          </p:cNvPicPr>
          <p:nvPr>
            <p:ph idx="4294967295"/>
          </p:nvPr>
        </p:nvPicPr>
        <p:blipFill>
          <a:blip r:embed="rId2"/>
          <a:stretch>
            <a:fillRect/>
          </a:stretch>
        </p:blipFill>
        <p:spPr>
          <a:xfrm>
            <a:off x="177281" y="1978025"/>
            <a:ext cx="4319588" cy="1862138"/>
          </a:xfrm>
        </p:spPr>
      </p:pic>
      <p:pic>
        <p:nvPicPr>
          <p:cNvPr id="10" name="Picture 9">
            <a:extLst>
              <a:ext uri="{FF2B5EF4-FFF2-40B4-BE49-F238E27FC236}">
                <a16:creationId xmlns:a16="http://schemas.microsoft.com/office/drawing/2014/main" id="{396E03B3-1CD7-A3E9-ACB6-CBE2AF829082}"/>
              </a:ext>
            </a:extLst>
          </p:cNvPr>
          <p:cNvPicPr>
            <a:picLocks noChangeAspect="1"/>
          </p:cNvPicPr>
          <p:nvPr/>
        </p:nvPicPr>
        <p:blipFill>
          <a:blip r:embed="rId3"/>
          <a:stretch>
            <a:fillRect/>
          </a:stretch>
        </p:blipFill>
        <p:spPr>
          <a:xfrm>
            <a:off x="177281" y="3964433"/>
            <a:ext cx="4334060" cy="1862138"/>
          </a:xfrm>
          <a:prstGeom prst="rect">
            <a:avLst/>
          </a:prstGeom>
        </p:spPr>
      </p:pic>
      <p:pic>
        <p:nvPicPr>
          <p:cNvPr id="12" name="Picture 11">
            <a:extLst>
              <a:ext uri="{FF2B5EF4-FFF2-40B4-BE49-F238E27FC236}">
                <a16:creationId xmlns:a16="http://schemas.microsoft.com/office/drawing/2014/main" id="{A8F8B69C-0977-469F-128A-8C1B837E4348}"/>
              </a:ext>
            </a:extLst>
          </p:cNvPr>
          <p:cNvPicPr>
            <a:picLocks noChangeAspect="1"/>
          </p:cNvPicPr>
          <p:nvPr/>
        </p:nvPicPr>
        <p:blipFill>
          <a:blip r:embed="rId4"/>
          <a:stretch>
            <a:fillRect/>
          </a:stretch>
        </p:blipFill>
        <p:spPr>
          <a:xfrm>
            <a:off x="4647133" y="1978025"/>
            <a:ext cx="4334060" cy="1873306"/>
          </a:xfrm>
          <a:prstGeom prst="rect">
            <a:avLst/>
          </a:prstGeom>
        </p:spPr>
      </p:pic>
      <p:pic>
        <p:nvPicPr>
          <p:cNvPr id="14" name="Picture 13">
            <a:extLst>
              <a:ext uri="{FF2B5EF4-FFF2-40B4-BE49-F238E27FC236}">
                <a16:creationId xmlns:a16="http://schemas.microsoft.com/office/drawing/2014/main" id="{D99EDA3F-1138-700E-F158-8B0840B50A6B}"/>
              </a:ext>
            </a:extLst>
          </p:cNvPr>
          <p:cNvPicPr>
            <a:picLocks noChangeAspect="1"/>
          </p:cNvPicPr>
          <p:nvPr/>
        </p:nvPicPr>
        <p:blipFill>
          <a:blip r:embed="rId5"/>
          <a:stretch>
            <a:fillRect/>
          </a:stretch>
        </p:blipFill>
        <p:spPr>
          <a:xfrm>
            <a:off x="4647133" y="3964433"/>
            <a:ext cx="4394719" cy="188159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Challenges and Solutions</a:t>
            </a:r>
          </a:p>
        </p:txBody>
      </p:sp>
      <p:sp>
        <p:nvSpPr>
          <p:cNvPr id="3" name="Content Placeholder 2"/>
          <p:cNvSpPr>
            <a:spLocks noGrp="1"/>
          </p:cNvSpPr>
          <p:nvPr>
            <p:ph idx="1"/>
          </p:nvPr>
        </p:nvSpPr>
        <p:spPr/>
        <p:txBody>
          <a:bodyPr/>
          <a:lstStyle/>
          <a:p>
            <a:pPr marL="0" indent="0">
              <a:buNone/>
            </a:pPr>
            <a:r>
              <a:rPr dirty="0">
                <a:latin typeface="Times New Roman" panose="02020603050405020304" pitchFamily="18" charset="0"/>
                <a:cs typeface="Times New Roman" panose="02020603050405020304" pitchFamily="18" charset="0"/>
              </a:rPr>
              <a:t>1. Low Resolution: 28x28 pixels limited detail; memory constraints necessitated compromise.</a:t>
            </a:r>
          </a:p>
          <a:p>
            <a:pPr marL="0" indent="0">
              <a:buNone/>
            </a:pPr>
            <a:r>
              <a:rPr dirty="0">
                <a:latin typeface="Times New Roman" panose="02020603050405020304" pitchFamily="18" charset="0"/>
                <a:cs typeface="Times New Roman" panose="02020603050405020304" pitchFamily="18" charset="0"/>
              </a:rPr>
              <a:t>2. Training Time: Long epochs due to complex architectures; cosine scheduler mitigated time.</a:t>
            </a:r>
          </a:p>
          <a:p>
            <a:pPr marL="0" indent="0">
              <a:buNone/>
            </a:pPr>
            <a:r>
              <a:rPr dirty="0">
                <a:latin typeface="Times New Roman" panose="02020603050405020304" pitchFamily="18" charset="0"/>
                <a:cs typeface="Times New Roman" panose="02020603050405020304" pitchFamily="18" charset="0"/>
              </a:rPr>
              <a:t>3. Limited Experimentation: Resource constraints limited </a:t>
            </a:r>
            <a:r>
              <a:rPr dirty="0" err="1">
                <a:latin typeface="Times New Roman" panose="02020603050405020304" pitchFamily="18" charset="0"/>
                <a:cs typeface="Times New Roman" panose="02020603050405020304" pitchFamily="18" charset="0"/>
              </a:rPr>
              <a:t>hyperparameter</a:t>
            </a:r>
            <a:r>
              <a:rPr dirty="0">
                <a:latin typeface="Times New Roman" panose="02020603050405020304" pitchFamily="18" charset="0"/>
                <a:cs typeface="Times New Roman" panose="02020603050405020304" pitchFamily="18" charset="0"/>
              </a:rPr>
              <a:t> tuning.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8905" y="1334278"/>
            <a:ext cx="6571343" cy="595072"/>
          </a:xfrm>
        </p:spPr>
        <p:txBody>
          <a:bodyPr/>
          <a:lstStyle/>
          <a:p>
            <a:r>
              <a:rPr dirty="0"/>
              <a:t>Conclusion</a:t>
            </a:r>
          </a:p>
        </p:txBody>
      </p:sp>
      <p:sp>
        <p:nvSpPr>
          <p:cNvPr id="3" name="Content Placeholder 2"/>
          <p:cNvSpPr>
            <a:spLocks noGrp="1"/>
          </p:cNvSpPr>
          <p:nvPr>
            <p:ph idx="1"/>
          </p:nvPr>
        </p:nvSpPr>
        <p:spPr>
          <a:xfrm>
            <a:off x="1368905" y="2038531"/>
            <a:ext cx="8229600" cy="4525963"/>
          </a:xfrm>
        </p:spPr>
        <p:txBody>
          <a:bodyPr>
            <a:normAutofit/>
          </a:bodyPr>
          <a:lstStyle/>
          <a:p>
            <a:pPr marL="0" indent="0">
              <a:buNone/>
            </a:pPr>
            <a:r>
              <a:rPr dirty="0">
                <a:latin typeface="Times New Roman" panose="02020603050405020304" pitchFamily="18" charset="0"/>
                <a:cs typeface="Times New Roman" panose="02020603050405020304" pitchFamily="18" charset="0"/>
              </a:rPr>
              <a:t>1. Achievements:</a:t>
            </a:r>
          </a:p>
          <a:p>
            <a:r>
              <a:rPr dirty="0">
                <a:latin typeface="Times New Roman" panose="02020603050405020304" pitchFamily="18" charset="0"/>
                <a:cs typeface="Times New Roman" panose="02020603050405020304" pitchFamily="18" charset="0"/>
              </a:rPr>
              <a:t>   - Generated diverse, realistic images.</a:t>
            </a:r>
          </a:p>
          <a:p>
            <a:pPr marL="0" indent="0">
              <a:buNone/>
            </a:pPr>
            <a:r>
              <a:rPr dirty="0">
                <a:latin typeface="Times New Roman" panose="02020603050405020304" pitchFamily="18" charset="0"/>
                <a:cs typeface="Times New Roman" panose="02020603050405020304" pitchFamily="18" charset="0"/>
              </a:rPr>
              <a:t>2. Limitations:</a:t>
            </a:r>
          </a:p>
          <a:p>
            <a:r>
              <a:rPr dirty="0">
                <a:latin typeface="Times New Roman" panose="02020603050405020304" pitchFamily="18" charset="0"/>
                <a:cs typeface="Times New Roman" panose="02020603050405020304" pitchFamily="18" charset="0"/>
              </a:rPr>
              <a:t>   - Resource and resolution constraints.</a:t>
            </a:r>
          </a:p>
          <a:p>
            <a:pPr marL="0" indent="0">
              <a:buNone/>
            </a:pPr>
            <a:r>
              <a:rPr dirty="0">
                <a:latin typeface="Times New Roman" panose="02020603050405020304" pitchFamily="18" charset="0"/>
                <a:cs typeface="Times New Roman" panose="02020603050405020304" pitchFamily="18" charset="0"/>
              </a:rPr>
              <a:t>3. Future Scope:</a:t>
            </a:r>
          </a:p>
          <a:p>
            <a:r>
              <a:rPr dirty="0">
                <a:latin typeface="Times New Roman" panose="02020603050405020304" pitchFamily="18" charset="0"/>
                <a:cs typeface="Times New Roman" panose="02020603050405020304" pitchFamily="18" charset="0"/>
              </a:rPr>
              <a:t>   - Improve resolution and diversity.</a:t>
            </a:r>
          </a:p>
          <a:p>
            <a:r>
              <a:rPr dirty="0">
                <a:latin typeface="Times New Roman" panose="02020603050405020304" pitchFamily="18" charset="0"/>
                <a:cs typeface="Times New Roman" panose="02020603050405020304" pitchFamily="18" charset="0"/>
              </a:rPr>
              <a:t>   - Optimize training with better hardware.</a:t>
            </a: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142</TotalTime>
  <Words>486</Words>
  <Application>Microsoft Office PowerPoint</Application>
  <PresentationFormat>On-screen Show (4:3)</PresentationFormat>
  <Paragraphs>52</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Gill Sans MT</vt:lpstr>
      <vt:lpstr>Times New Roman</vt:lpstr>
      <vt:lpstr>Gallery</vt:lpstr>
      <vt:lpstr>Generative Modeling for Inclusive Facial Image Creation</vt:lpstr>
      <vt:lpstr>Introduction</vt:lpstr>
      <vt:lpstr>Dataset Preparation</vt:lpstr>
      <vt:lpstr>Model Architecture</vt:lpstr>
      <vt:lpstr>Training Process</vt:lpstr>
      <vt:lpstr>Code Snippet - Class Conditioned U-Net</vt:lpstr>
      <vt:lpstr>Image Generation Process</vt:lpstr>
      <vt:lpstr>Results</vt:lpstr>
      <vt:lpstr>Challenges and Solutions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Modeling for Inclusive Facial Image Creation</dc:title>
  <dc:subject/>
  <dc:creator>Manvitha Reddy</dc:creator>
  <cp:keywords/>
  <dc:description>generated using python-pptx</dc:description>
  <cp:lastModifiedBy>Sriraj Guptha</cp:lastModifiedBy>
  <cp:revision>33</cp:revision>
  <dcterms:created xsi:type="dcterms:W3CDTF">2013-01-27T09:14:16Z</dcterms:created>
  <dcterms:modified xsi:type="dcterms:W3CDTF">2024-12-05T14:30:52Z</dcterms:modified>
  <cp:category/>
</cp:coreProperties>
</file>